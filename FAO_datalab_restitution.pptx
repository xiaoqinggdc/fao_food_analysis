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400" b="0" i="0" u="none" strike="noStrike">
                <a:solidFill>
                  <a:srgbClr val="000000"/>
                </a:solidFill>
                <a:latin typeface="Arial"/>
              </a:rPr>
              <a:t>Taux moyen par continent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9569493107478115E-2"/>
          <c:y val="0.14436722531443735"/>
          <c:w val="0.88939822020839387"/>
          <c:h val="0.472644428853560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sous-nutrition moyen (%)</c:v>
                </c:pt>
              </c:strCache>
            </c:strRef>
          </c:tx>
          <c:spPr>
            <a:solidFill>
              <a:srgbClr val="0090C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3049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Afrique</c:v>
                </c:pt>
                <c:pt idx="1">
                  <c:v>Asie</c:v>
                </c:pt>
                <c:pt idx="2">
                  <c:v>Amérique</c:v>
                </c:pt>
                <c:pt idx="3">
                  <c:v>Europe*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21.5</c:v>
                </c:pt>
                <c:pt idx="1">
                  <c:v>13.6</c:v>
                </c:pt>
                <c:pt idx="2">
                  <c:v>12.6</c:v>
                </c:pt>
                <c:pt idx="3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94-4FC8-8235-83F2924A00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30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DC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C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36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 descr="world_kcal.png">
            <a:extLst>
              <a:ext uri="{FF2B5EF4-FFF2-40B4-BE49-F238E27FC236}">
                <a16:creationId xmlns:a16="http://schemas.microsoft.com/office/drawing/2014/main" id="{A8DCFA64-3DDA-F2FD-24D7-62B3D24567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40" b="11804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3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1" descr="fao_logo.png">
            <a:extLst>
              <a:ext uri="{FF2B5EF4-FFF2-40B4-BE49-F238E27FC236}">
                <a16:creationId xmlns:a16="http://schemas.microsoft.com/office/drawing/2014/main" id="{A0529A4A-7913-6202-16E8-E7407023F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99" y="754147"/>
            <a:ext cx="870837" cy="87083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279BAF5-C9E6-8AB4-666D-243106B8DED7}"/>
              </a:ext>
            </a:extLst>
          </p:cNvPr>
          <p:cNvSpPr txBox="1"/>
          <p:nvPr/>
        </p:nvSpPr>
        <p:spPr>
          <a:xfrm>
            <a:off x="1510748" y="3861160"/>
            <a:ext cx="8812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</a:t>
            </a:r>
            <a:r>
              <a:rPr lang="en-US" sz="2800" b="1" dirty="0" err="1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alimentaire</a:t>
            </a:r>
            <a:r>
              <a:rPr lang="en-US" sz="2800" b="1" dirty="0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en-US" sz="2800" b="1" dirty="0" err="1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Sous_nutrition</a:t>
            </a:r>
            <a:r>
              <a:rPr lang="en-US" sz="2800" b="1" dirty="0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dirty="0" err="1"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mondiale</a:t>
            </a:r>
            <a:endParaRPr lang="en-US" sz="2800" dirty="0">
              <a:highlight>
                <a:srgbClr val="C0C0C0"/>
              </a:highlight>
            </a:endParaRP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5633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5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année, la FAO publie des données sur la production alimentaire, la population et la sous-nutrition dans le monde. Mais ces données arrivent dans des fichiers séparés, qui ne couvrent pas toujours les mêmes pays et ne sont pas toujours dans le même format.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01825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9077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pays et régions sont les plus touchés par la sous-nutrition 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547872"/>
            <a:ext cx="384048" cy="38404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64004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5295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alimentaires sont associés à ce phénomène 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41696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26183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1513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estimer les valeurs manquantes de manière fiable ?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791456"/>
            <a:ext cx="384048" cy="384048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3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883628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7731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des profils de pays homogènes à identifier ?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223760" y="1325880"/>
            <a:ext cx="4297680" cy="461772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7" name="Text 11"/>
          <p:cNvSpPr/>
          <p:nvPr/>
        </p:nvSpPr>
        <p:spPr>
          <a:xfrm>
            <a:off x="75895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589520" y="2194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75895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sources FAO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589520" y="35204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r>
              <a:rPr lang="fr-FR" sz="34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</a:t>
            </a:r>
            <a:r>
              <a:rPr lang="en-US" sz="34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171pays</a:t>
            </a:r>
            <a:endParaRPr lang="en-US" sz="3400" dirty="0"/>
          </a:p>
        </p:txBody>
      </p:sp>
      <p:sp>
        <p:nvSpPr>
          <p:cNvPr id="21" name="Text 15"/>
          <p:cNvSpPr/>
          <p:nvPr/>
        </p:nvSpPr>
        <p:spPr>
          <a:xfrm>
            <a:off x="7589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dans le dataset final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58952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2012–2014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758952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de référence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méthodologique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</a:t>
            </a:r>
            <a:r>
              <a:rPr lang="fr-FR" altLang="zh-CN" sz="150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50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mission </a:t>
            </a:r>
            <a:r>
              <a:rPr lang="en-US" sz="1500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étapes, du diagnostic à la restitution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59"/>
            <a:ext cx="2560320" cy="4014083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54480" y="2514600"/>
            <a:ext cx="731520" cy="73152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45" y="2690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jointure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103120" cy="1933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qualité des 5 fichiers CSV via une classe POO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fr-FR" sz="1200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DataProfiler</a:t>
            </a:r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fr-FR" sz="1200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ProfileurFAO</a:t>
            </a:r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fr-FR" sz="1200" dirty="0">
              <a:solidFill>
                <a:srgbClr val="4C70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du </a:t>
            </a:r>
            <a:r>
              <a:rPr lang="fr-FR" sz="1200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: Végétaux + Animaux + Population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Sous-alimentation.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82112" y="33649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2194560"/>
            <a:ext cx="2560320" cy="401408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343400" y="251460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965" y="26901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40233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disparités régionales (par continent),</a:t>
            </a:r>
          </a:p>
          <a:p>
            <a:endParaRPr lang="fr-FR" sz="1200" dirty="0">
              <a:solidFill>
                <a:srgbClr val="4C70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entre les variables.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71032" y="33649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17920" y="2194560"/>
            <a:ext cx="2560320" cy="401408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7132320" y="2514600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885" y="269016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0080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6520" y="40233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3 modèles afin de retenir le plus performant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imputer les valeurs manquantes.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759952" y="3364992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06840" y="2194560"/>
            <a:ext cx="2560320" cy="401408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9921240" y="2514600"/>
            <a:ext cx="731520" cy="731520"/>
          </a:xfrm>
          <a:prstGeom prst="ellipse">
            <a:avLst/>
          </a:prstGeom>
          <a:solidFill>
            <a:srgbClr val="045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805" y="2690165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5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18972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35440" y="4023359"/>
            <a:ext cx="2103120" cy="1403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: déterminer le nombre de clusters par la méthode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coude, segmenter les pays en profils types, puis formuler</a:t>
            </a:r>
          </a:p>
          <a:p>
            <a:r>
              <a:rPr lang="fr-FR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recommandations pour la FAO.</a:t>
            </a:r>
            <a:endParaRPr lang="en-US" sz="1200" dirty="0">
              <a:solidFill>
                <a:srgbClr val="4C70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construit avec rigueur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de traitement (exclusion, jointure, imputation) est justifiée et documentée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2004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77340" y="2423160"/>
            <a:ext cx="640080" cy="64008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59" y="25767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9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(Vegetaux + Animaux + Population)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1568" y="2148840"/>
            <a:ext cx="2514600" cy="32004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338828" y="242316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447" y="25767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538728" y="4114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avec taux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sous-nutrition mesuré (FAO)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2148840"/>
            <a:ext cx="2514600" cy="32004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100316" y="242316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935" y="25767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6300216" y="4114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imputés par 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24544" y="2148840"/>
            <a:ext cx="2514600" cy="32004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861804" y="2423160"/>
            <a:ext cx="640080" cy="640080"/>
          </a:xfrm>
          <a:prstGeom prst="ellipse">
            <a:avLst/>
          </a:prstGeom>
          <a:solidFill>
            <a:srgbClr val="045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423" y="25767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15984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45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9061704" y="4114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exclu (Cereales,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sous-ensemble de Vegetaux)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L'Afrique, continent le plus affecté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049945959"/>
              </p:ext>
            </p:extLst>
          </p:nvPr>
        </p:nvGraphicFramePr>
        <p:xfrm>
          <a:off x="670560" y="1097281"/>
          <a:ext cx="4501763" cy="227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949440" y="1517374"/>
            <a:ext cx="4572000" cy="402336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726948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69480" y="2386054"/>
            <a:ext cx="3931920" cy="1761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400" dirty="0"/>
              <a:t>🌍 </a:t>
            </a:r>
            <a:r>
              <a:rPr lang="fr-FR" sz="1400" b="1" dirty="0"/>
              <a:t>Afrique</a:t>
            </a:r>
            <a:r>
              <a:rPr lang="fr-FR" sz="1400" dirty="0"/>
              <a:t> : Le continent le plus touché avec un taux moyen de </a:t>
            </a:r>
            <a:r>
              <a:rPr lang="fr-FR" sz="1400" b="1" dirty="0"/>
              <a:t>21,5 %</a:t>
            </a:r>
          </a:p>
          <a:p>
            <a:endParaRPr lang="fr-FR" sz="1400" b="1" dirty="0"/>
          </a:p>
          <a:p>
            <a:r>
              <a:rPr lang="fr-FR" sz="1400" dirty="0"/>
              <a:t>📊 </a:t>
            </a:r>
            <a:r>
              <a:rPr lang="fr-FR" sz="1400" b="1" dirty="0"/>
              <a:t>Autres régions</a:t>
            </a:r>
            <a:r>
              <a:rPr lang="fr-FR" sz="1400" dirty="0"/>
              <a:t> : L'Asie (</a:t>
            </a:r>
            <a:r>
              <a:rPr lang="fr-FR" sz="1400" b="1" dirty="0"/>
              <a:t>13,6 %</a:t>
            </a:r>
            <a:r>
              <a:rPr lang="fr-FR" sz="1400" dirty="0"/>
              <a:t>) et l'Amérique (</a:t>
            </a:r>
            <a:r>
              <a:rPr lang="fr-FR" sz="1400" b="1" dirty="0"/>
              <a:t>12,6 %</a:t>
            </a:r>
            <a:r>
              <a:rPr lang="fr-FR" sz="1400" dirty="0"/>
              <a:t>) affichent des niveaux intermédiaires, bien plus bas que l'Afrique, tandis que l'Europe descend à </a:t>
            </a:r>
            <a:r>
              <a:rPr lang="fr-FR" sz="1400" b="1" dirty="0"/>
              <a:t>5,2 %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269480" y="4333460"/>
            <a:ext cx="3931920" cy="832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100" dirty="0"/>
              <a:t>⚠️ </a:t>
            </a:r>
            <a:r>
              <a:rPr lang="fr-FR" sz="1100" b="1" dirty="0"/>
              <a:t>Précision</a:t>
            </a:r>
            <a:r>
              <a:rPr lang="fr-FR" sz="1100" dirty="0"/>
              <a:t> : Les chiffres de l'Europe sont à nuancer car ils ne reposent que sur </a:t>
            </a:r>
            <a:r>
              <a:rPr lang="fr-FR" sz="1100" b="1" dirty="0"/>
              <a:t>4 pays sur 39 (10 %)</a:t>
            </a:r>
            <a:r>
              <a:rPr lang="fr-FR" sz="1100" dirty="0"/>
              <a:t>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B1381C-3E30-5BDC-ABC5-B42BA4D80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34" y="3113541"/>
            <a:ext cx="5169787" cy="2584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Quels facteurs sont liés à la sous-nutrition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de Spearman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26650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478280"/>
            <a:ext cx="5844209" cy="448056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6583679" y="2103120"/>
            <a:ext cx="1402523" cy="626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83680" y="4375689"/>
            <a:ext cx="4572000" cy="5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4976191"/>
            <a:ext cx="4572000" cy="5698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CC9007EA-816B-B23D-EB2B-5202790FEE26}"/>
              </a:ext>
            </a:extLst>
          </p:cNvPr>
          <p:cNvSpPr/>
          <p:nvPr/>
        </p:nvSpPr>
        <p:spPr>
          <a:xfrm>
            <a:off x="739471" y="1524663"/>
            <a:ext cx="4114800" cy="4434177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26" descr="The image shows a comparison between the energy content of animal-based and vegetable foods, and their correlation with malnutrition, indicating a stronger relationship with total caloric availability than with the proportion of animal versus vegetable foods.&#10;&#10;Le contenu généré par l’IA peut être incorrect.">
            <a:extLst>
              <a:ext uri="{FF2B5EF4-FFF2-40B4-BE49-F238E27FC236}">
                <a16:creationId xmlns:a16="http://schemas.microsoft.com/office/drawing/2014/main" id="{2B522753-1627-7D36-37AE-FF936D0C2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810689"/>
            <a:ext cx="3307080" cy="3829811"/>
          </a:xfrm>
          <a:prstGeom prst="rect">
            <a:avLst/>
          </a:prstGeom>
        </p:spPr>
      </p:pic>
      <p:pic>
        <p:nvPicPr>
          <p:cNvPr id="5" name="Image 0" descr="corr_matrix.png">
            <a:extLst>
              <a:ext uri="{FF2B5EF4-FFF2-40B4-BE49-F238E27FC236}">
                <a16:creationId xmlns:a16="http://schemas.microsoft.com/office/drawing/2014/main" id="{8BD1E8EC-B11B-52D2-520C-2D659C9DD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972" y="1524663"/>
            <a:ext cx="5191154" cy="4434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Imputer les </a:t>
            </a:r>
            <a:r>
              <a:rPr lang="en-US" sz="2800" b="1" dirty="0" err="1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</a:t>
            </a:r>
            <a:r>
              <a:rPr lang="en-US" sz="28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manquantes</a:t>
            </a:r>
            <a:r>
              <a:rPr lang="en-US" sz="28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avec le </a:t>
            </a:r>
            <a:r>
              <a:rPr lang="en-US" sz="2800" b="1" dirty="0" err="1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</a:t>
            </a:r>
            <a:r>
              <a:rPr lang="en-US" sz="28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Random Forest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retenues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1761866"/>
            <a:ext cx="152156" cy="1521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64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calorique totale (kcal/habitant)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2264786"/>
            <a:ext cx="152156" cy="1521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67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protéines animales (%)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697480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2767706"/>
            <a:ext cx="152156" cy="1521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700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protéines végétales (%)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3429000"/>
            <a:ext cx="5349240" cy="1348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décidé de ne pas utiliser la variable </a:t>
            </a:r>
            <a:r>
              <a:rPr lang="fr-FR" sz="1200" dirty="0" err="1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Population_totale</a:t>
            </a:r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pour deux raisons :</a:t>
            </a:r>
          </a:p>
          <a:p>
            <a:endParaRPr lang="fr-FR" sz="1200" dirty="0">
              <a:solidFill>
                <a:srgbClr val="0D304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D'abord, elle est peu corrélée avec ce qu'on cherche à prédire (ρ = -0,12).</a:t>
            </a:r>
          </a:p>
          <a:p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Ensuite, je l'ai testée quand même : en la retirant du modèle, le R² s'améliore </a:t>
            </a:r>
          </a:p>
          <a:p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légèrement (de 0,642 à 0,661). Autrement dit, elle n'apporte rien de bon </a:t>
            </a:r>
          </a:p>
          <a:p>
            <a:r>
              <a:rPr lang="fr-FR" sz="1200" dirty="0">
                <a:solidFill>
                  <a:srgbClr val="0D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risquait en plus de créer une fuite de données.</a:t>
            </a:r>
            <a:endParaRPr lang="en-US" sz="1200" dirty="0">
              <a:solidFill>
                <a:srgbClr val="0D304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126480" y="1234440"/>
            <a:ext cx="5394960" cy="2979751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0"/>
          <p:cNvSpPr/>
          <p:nvPr/>
        </p:nvSpPr>
        <p:spPr>
          <a:xfrm>
            <a:off x="644652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5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modèles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7545"/>
              </p:ext>
            </p:extLst>
          </p:nvPr>
        </p:nvGraphicFramePr>
        <p:xfrm>
          <a:off x="6446520" y="1965960"/>
          <a:ext cx="4754880" cy="164592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(CV 5-fold)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(moyenne)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linéaire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30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6949440" y="397764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61FE1192-ED5D-F491-0ED5-CB9952D97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4881768"/>
            <a:ext cx="4290387" cy="44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4261"/>
            <a:ext cx="10881360" cy="675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K-Means : profils de pays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982"/>
            <a:ext cx="10881360" cy="781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55287" y="2222953"/>
            <a:ext cx="3533030" cy="1708005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22805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 flipH="1">
            <a:off x="3749039" y="2450592"/>
            <a:ext cx="2691517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21971" y="4227442"/>
            <a:ext cx="3533029" cy="1670437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530352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17720" y="28803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703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8" name="Image 2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22805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75320" y="28803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75320" y="3703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623560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1143000" y="5623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A820F0EE-AE72-31C3-2E38-D607787650F1}"/>
              </a:ext>
            </a:extLst>
          </p:cNvPr>
          <p:cNvSpPr/>
          <p:nvPr/>
        </p:nvSpPr>
        <p:spPr>
          <a:xfrm>
            <a:off x="8431032" y="2176272"/>
            <a:ext cx="3319008" cy="1601114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E7EB0B3-D2D6-2D44-F799-0C1DEA4BE276}"/>
              </a:ext>
            </a:extLst>
          </p:cNvPr>
          <p:cNvSpPr/>
          <p:nvPr/>
        </p:nvSpPr>
        <p:spPr>
          <a:xfrm>
            <a:off x="8406994" y="4188866"/>
            <a:ext cx="3455689" cy="2105183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204CF344-1C9E-F817-33B0-35094E0B8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51" y="3657600"/>
            <a:ext cx="3245003" cy="2382659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B3C3B89E-E76D-38D8-D4F6-B5D6EB130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85" y="2047580"/>
            <a:ext cx="3224824" cy="130661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F6B0E1DD-3320-03EB-1BCB-ADAC39D105F1}"/>
              </a:ext>
            </a:extLst>
          </p:cNvPr>
          <p:cNvSpPr txBox="1"/>
          <p:nvPr/>
        </p:nvSpPr>
        <p:spPr>
          <a:xfrm>
            <a:off x="4543840" y="2450592"/>
            <a:ext cx="32801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Cluster0</a:t>
            </a:r>
            <a:r>
              <a:rPr lang="fr-FR" sz="1000" dirty="0"/>
              <a:t> : « Pays à situation équilibrée »</a:t>
            </a:r>
          </a:p>
          <a:p>
            <a:endParaRPr lang="fr-FR" sz="1000" dirty="0"/>
          </a:p>
          <a:p>
            <a:r>
              <a:rPr lang="fr-FR" sz="1000" dirty="0"/>
              <a:t>Caractéristiques : Situation intermédiaire correcte avec 2870.0 kcal/j en disponibilité calorique et 8.9% de taux de sous-nutrition. L'alimentation se compose de 15.3% de produits animaux et 84.7% de végétaux. C'est le groupe le plus vaste avec 66 pays</a:t>
            </a:r>
          </a:p>
          <a:p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4DF4A14-6D64-24F6-D511-324EEB2D1F5B}"/>
              </a:ext>
            </a:extLst>
          </p:cNvPr>
          <p:cNvSpPr txBox="1"/>
          <p:nvPr/>
        </p:nvSpPr>
        <p:spPr>
          <a:xfrm>
            <a:off x="8509219" y="2204351"/>
            <a:ext cx="31606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Cluster 1</a:t>
            </a:r>
            <a:r>
              <a:rPr lang="fr-FR" sz="1000" dirty="0"/>
              <a:t>: « Pays en insécurité alimentaire »</a:t>
            </a:r>
          </a:p>
          <a:p>
            <a:endParaRPr lang="fr-FR" sz="1000" dirty="0"/>
          </a:p>
          <a:p>
            <a:r>
              <a:rPr lang="fr-FR" sz="1000" dirty="0"/>
              <a:t>Caractéristiques : Disponibilité calorique faible (2301.5 kcal/j) et taux de sous-nutrition élevé (27.9%). L'alimentation est très majoritairement végétale (92.2% de végétaux contre 7.8% de produits animaux). Ce groupe comprend 40 pays.</a:t>
            </a:r>
          </a:p>
          <a:p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25D62D9-6BA4-F559-62A1-B1A0C66DC0CF}"/>
              </a:ext>
            </a:extLst>
          </p:cNvPr>
          <p:cNvSpPr txBox="1"/>
          <p:nvPr/>
        </p:nvSpPr>
        <p:spPr>
          <a:xfrm>
            <a:off x="4543840" y="4293704"/>
            <a:ext cx="318217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Cluster 2</a:t>
            </a:r>
            <a:r>
              <a:rPr lang="fr-FR" sz="1000" dirty="0"/>
              <a:t> : « Pays en sécurité alimentaire élevée »</a:t>
            </a:r>
          </a:p>
          <a:p>
            <a:br>
              <a:rPr lang="fr-FR" sz="1000" dirty="0"/>
            </a:br>
            <a:endParaRPr lang="fr-FR" sz="1000" dirty="0"/>
          </a:p>
          <a:p>
            <a:r>
              <a:rPr lang="fr-FR" sz="1000" dirty="0"/>
              <a:t>Caractéristiques : Disponibilité calorique élevée (3162.2 kcal/j), part animale forte (28.4%) et taux de sous-nutrition faible (5.8%). Ce groupe comprend 63 pays.</a:t>
            </a:r>
          </a:p>
          <a:p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DBC50AB-D473-F1F3-8A52-F4D9C6F27178}"/>
              </a:ext>
            </a:extLst>
          </p:cNvPr>
          <p:cNvSpPr txBox="1"/>
          <p:nvPr/>
        </p:nvSpPr>
        <p:spPr>
          <a:xfrm>
            <a:off x="8692287" y="4293704"/>
            <a:ext cx="293993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Cluster 3</a:t>
            </a:r>
            <a:r>
              <a:rPr lang="fr-FR" sz="1000" dirty="0"/>
              <a:t> : « Pays très peuplés, mais très différents en sécurité alimentaire »</a:t>
            </a:r>
          </a:p>
          <a:p>
            <a:endParaRPr lang="fr-FR" sz="1000" dirty="0"/>
          </a:p>
          <a:p>
            <a:r>
              <a:rPr lang="fr-FR" sz="1000" dirty="0"/>
              <a:t>Caractéristiques : Ce groupe isole les deux méga-pays de la planète en raison de leur population colossale (moyenne supérieure à 1,33 milliard d'habitants). Ce groupe compte 2 pays, leurs profils alimentaires sont contrastés :</a:t>
            </a:r>
          </a:p>
          <a:p>
            <a:r>
              <a:rPr lang="fr-FR" sz="1000" dirty="0"/>
              <a:t>    Chine : 1,42 milliard d'habitants, 3112.0 kcal/j et 9.7% de sous-nutrition.</a:t>
            </a:r>
          </a:p>
          <a:p>
            <a:r>
              <a:rPr lang="fr-FR" sz="1000" dirty="0"/>
              <a:t>    Inde : 1,25 milliard d'habitants, 2454.0 kcal/j et 17.3% de sous-nutrition.</a:t>
            </a:r>
          </a:p>
          <a:p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9244FEC-AD4B-535B-6ABE-C4D510CFEA50}"/>
              </a:ext>
            </a:extLst>
          </p:cNvPr>
          <p:cNvSpPr txBox="1"/>
          <p:nvPr/>
        </p:nvSpPr>
        <p:spPr>
          <a:xfrm>
            <a:off x="1005840" y="1160250"/>
            <a:ext cx="69824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déterminé</a:t>
            </a:r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la </a:t>
            </a:r>
            <a:r>
              <a:rPr lang="en-US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</a:t>
            </a:r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 </a:t>
            </a:r>
            <a:r>
              <a:rPr lang="en-US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interprété</a:t>
            </a:r>
            <a:r>
              <a:rPr lang="en-US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≥ 3 variables</a:t>
            </a:r>
            <a:r>
              <a:rPr lang="fr-FR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</a:p>
          <a:p>
            <a:r>
              <a:rPr lang="fr-FR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Disponibilite_calorique_totale_kcal</a:t>
            </a:r>
            <a:r>
              <a:rPr lang="fr-FR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r>
              <a:rPr lang="fr-FR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Part_vegetaux_pct</a:t>
            </a:r>
            <a:endParaRPr lang="fr-FR" sz="1000" b="1" i="1" dirty="0">
              <a:solidFill>
                <a:srgbClr val="4C70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Part_animaux_pct</a:t>
            </a:r>
            <a:r>
              <a:rPr lang="fr-FR" sz="1000" b="1" i="1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r>
              <a:rPr lang="fr-FR" sz="1000" b="1" i="1" dirty="0" err="1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Population_totale</a:t>
            </a:r>
            <a:endParaRPr lang="fr-FR" sz="1000" b="1" i="1" dirty="0">
              <a:solidFill>
                <a:srgbClr val="4C70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5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75856" y="4508058"/>
            <a:ext cx="114663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85720" y="5371106"/>
            <a:ext cx="411480" cy="41148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75" y="5469861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5300870"/>
            <a:ext cx="9601200" cy="536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D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https://github.com/XiaoqingGdc/FAO_food_analysis/tree/main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A231761-63FC-5761-81CD-01F184C01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20" y="774533"/>
            <a:ext cx="5032437" cy="337687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1533A0C-1821-588F-4A04-0439DCECF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087" y="722686"/>
            <a:ext cx="6168887" cy="341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0C9"/>
      </a:accent1>
      <a:accent2>
        <a:srgbClr val="ED7D31"/>
      </a:accent2>
      <a:accent3>
        <a:srgbClr val="A5A5A5"/>
      </a:accent3>
      <a:accent4>
        <a:srgbClr val="045C8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821</Words>
  <Application>Microsoft Office PowerPoint</Application>
  <PresentationFormat>Grand écran</PresentationFormat>
  <Paragraphs>127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Xiaoqing Grandcoing</cp:lastModifiedBy>
  <cp:revision>5</cp:revision>
  <dcterms:created xsi:type="dcterms:W3CDTF">2026-08-06T10:14:38Z</dcterms:created>
  <dcterms:modified xsi:type="dcterms:W3CDTF">2026-08-07T14:36:22Z</dcterms:modified>
</cp:coreProperties>
</file>